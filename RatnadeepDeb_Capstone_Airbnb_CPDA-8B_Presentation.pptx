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5E7E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5E7EB"/>
                </a:solidFill>
                <a:latin typeface="Arial"/>
              </a:rPr>
              <a:t>Projected Revenue ($M) by Scenario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Revenue</c:v>
                </c:pt>
              </c:strCache>
            </c:strRef>
          </c:tx>
          <c:spPr>
            <a:solidFill>
              <a:srgbClr val="555E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71-4E3C-A1F6-F7853367B508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71-4E3C-A1F6-F7853367B508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71-4E3C-A1F6-F7853367B508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71-4E3C-A1F6-F7853367B5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Pessimistic
0.45 occ × 1.0x</c:v>
                </c:pt>
                <c:pt idx="1">
                  <c:v>Moderate
0.60 occ × 1.0x</c:v>
                </c:pt>
                <c:pt idx="2">
                  <c:v>Optimistic
0.80 occ × 1.5x</c:v>
                </c:pt>
                <c:pt idx="3">
                  <c:v>Discount Trap
0.95 occ × 0.5x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15.78</c:v>
                </c:pt>
                <c:pt idx="1">
                  <c:v>20</c:v>
                </c:pt>
                <c:pt idx="2">
                  <c:v>42.09</c:v>
                </c:pt>
                <c:pt idx="3">
                  <c:v>16.66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A71-4E3C-A1F6-F7853367B5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A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140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1A1A2A">
              <a:alpha val="60000"/>
            </a:srgbClr>
          </a:solidFill>
          <a:ln w="12700">
            <a:solidFill>
              <a:srgbClr val="1A1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347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airbnb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0040" y="1078992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Antwerp Short-Term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Rental Market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0040" y="25786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STRATEGIC RECOMMENDATIONS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2487168"/>
            <a:ext cx="256032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20040" y="4645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Ratnadeep Deb  |  CPDA-8B  |  Hero Vired  |  2025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77640" y="914400"/>
            <a:ext cx="2331720" cy="1417320"/>
          </a:xfrm>
          <a:prstGeom prst="rect">
            <a:avLst/>
          </a:prstGeom>
          <a:solidFill>
            <a:srgbClr val="1E2A38"/>
          </a:solidFill>
          <a:ln w="19050">
            <a:solidFill>
              <a:srgbClr val="FF38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977640" y="11155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3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977640" y="1783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Listings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914400"/>
            <a:ext cx="2331720" cy="1417320"/>
          </a:xfrm>
          <a:prstGeom prst="rect">
            <a:avLst/>
          </a:prstGeom>
          <a:solidFill>
            <a:srgbClr val="1E2A38"/>
          </a:solidFill>
          <a:ln w="19050">
            <a:solidFill>
              <a:srgbClr val="FF38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83680" y="11155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3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$109.92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583680" y="1783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Night Price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77640" y="2606040"/>
            <a:ext cx="2331720" cy="1417320"/>
          </a:xfrm>
          <a:prstGeom prst="rect">
            <a:avLst/>
          </a:prstGeom>
          <a:solidFill>
            <a:srgbClr val="1E2A38"/>
          </a:solidFill>
          <a:ln w="19050">
            <a:solidFill>
              <a:srgbClr val="FF38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977640" y="280720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3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53.53%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977640" y="3474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Rate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0" y="2606040"/>
            <a:ext cx="2331720" cy="1417320"/>
          </a:xfrm>
          <a:prstGeom prst="rect">
            <a:avLst/>
          </a:prstGeom>
          <a:solidFill>
            <a:srgbClr val="1E2A38"/>
          </a:solidFill>
          <a:ln w="19050">
            <a:solidFill>
              <a:srgbClr val="FF38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583680" y="280720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3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$35M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583680" y="3474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Revenue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840480" y="4736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ANTWERP, BELGIUM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FF385C">
              <a:alpha val="45000"/>
            </a:srgbClr>
          </a:solidFill>
          <a:ln w="127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 rot="16200000">
            <a:off x="-150876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0604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Reveals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60604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Antwerp Airbnb Market  |  2022 Full-Year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207008"/>
            <a:ext cx="2057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606040" y="1207008"/>
            <a:ext cx="2057400" cy="256032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243584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97480" y="15179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3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$116.90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9748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97480" y="224028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segment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(+6% above market avg)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18888" y="1207008"/>
            <a:ext cx="2057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818888" y="1207008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910328" y="1280160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43584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10328" y="15179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$130.72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910328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BR Premium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10328" y="224028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bedroom tier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listings | 57.84% avail.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031736" y="1207008"/>
            <a:ext cx="2057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031736" y="1207008"/>
            <a:ext cx="205740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7123176" y="1280160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243584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23176" y="15179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$42.09M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123176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Projection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123176" y="224028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0.80 occ × 1.50x price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+$7M vs. base revenue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2606040" y="3017520"/>
            <a:ext cx="2057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2606040" y="3017520"/>
            <a:ext cx="20574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2697480" y="3090672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3054096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697480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463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2697480" y="38039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Review Count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2697480" y="4050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Timur — Central Station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$64/night | Best value leader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4818888" y="3017520"/>
            <a:ext cx="2057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4818888" y="3017520"/>
            <a:ext cx="20574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4910328" y="3090672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054096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910328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($18M)</a:t>
            </a:r>
            <a:endParaRPr lang="en-US" sz="2200" dirty="0"/>
          </a:p>
        </p:txBody>
      </p:sp>
      <p:sp>
        <p:nvSpPr>
          <p:cNvPr id="40" name="Text 33"/>
          <p:cNvSpPr/>
          <p:nvPr/>
        </p:nvSpPr>
        <p:spPr>
          <a:xfrm>
            <a:off x="4910328" y="38039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Trap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910328" y="4050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occ × 0.50x price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Near-full but revenue negative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7031736" y="3017520"/>
            <a:ext cx="2057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6"/>
          <p:cNvSpPr/>
          <p:nvPr/>
        </p:nvSpPr>
        <p:spPr>
          <a:xfrm>
            <a:off x="7031736" y="3017520"/>
            <a:ext cx="20574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7123176" y="3090672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176" y="3054096"/>
            <a:ext cx="182880" cy="18288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123176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~77%</a:t>
            </a:r>
            <a:endParaRPr lang="en-US" sz="2200" dirty="0"/>
          </a:p>
        </p:txBody>
      </p:sp>
      <p:sp>
        <p:nvSpPr>
          <p:cNvPr id="47" name="Text 39"/>
          <p:cNvSpPr/>
          <p:nvPr/>
        </p:nvSpPr>
        <p:spPr>
          <a:xfrm>
            <a:off x="7123176" y="38039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7123176" y="4050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controls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revenue potential</a:t>
            </a:r>
            <a:endParaRPr lang="en-US" sz="850" dirty="0"/>
          </a:p>
        </p:txBody>
      </p:sp>
      <p:sp>
        <p:nvSpPr>
          <p:cNvPr id="49" name="Text 41"/>
          <p:cNvSpPr/>
          <p:nvPr/>
        </p:nvSpPr>
        <p:spPr>
          <a:xfrm>
            <a:off x="260604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Inside Airbnb — Antwerp (2022)  |  Power BI Dashboard Analysis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3474720" cy="3474720"/>
          </a:xfrm>
          <a:prstGeom prst="ellipse">
            <a:avLst/>
          </a:prstGeom>
          <a:solidFill>
            <a:srgbClr val="FF385C">
              <a:alpha val="18000"/>
            </a:srgbClr>
          </a:solidFill>
          <a:ln w="127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955280" y="-594360"/>
            <a:ext cx="2468880" cy="2468880"/>
          </a:xfrm>
          <a:prstGeom prst="ellipse">
            <a:avLst/>
          </a:prstGeom>
          <a:solidFill>
            <a:srgbClr val="FF385C">
              <a:alpha val="30000"/>
            </a:srgbClr>
          </a:solidFill>
          <a:ln w="127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ANTWERP AIRBNB  |  PRIORITY ACTION PLAN  |  2025–2026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5029200" cy="1115568"/>
          </a:xfrm>
          <a:prstGeom prst="rect">
            <a:avLst/>
          </a:prstGeom>
          <a:solidFill>
            <a:srgbClr val="1E2A38"/>
          </a:solidFill>
          <a:ln w="15240">
            <a:solidFill>
              <a:srgbClr val="FF38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548640" cy="1115568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31673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Dynamic Pricing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44752" y="1645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Price_Multiplier to 1.40–1.60x during May–June &amp; December peaks. Dashboard proves 0.80 occ × 1.50x = $42.09M projected — a 167% uplift vs. current defaults.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11480" y="2450592"/>
            <a:ext cx="5029200" cy="1115568"/>
          </a:xfrm>
          <a:prstGeom prst="rect">
            <a:avLst/>
          </a:prstGeom>
          <a:solidFill>
            <a:srgbClr val="1E2A38"/>
          </a:solidFill>
          <a:ln w="1524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11480" y="2450592"/>
            <a:ext cx="54864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11480" y="2770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57860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44752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Activate Under-Performing Assets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44752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~224 listings sit at &gt;90% availability. Use the Price Histogram to benchmark vs. neighbourhood medians. Raising occupancy from 10% → 40% on 200 listings adds $1.53M annually.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411480" y="3712464"/>
            <a:ext cx="5029200" cy="1115568"/>
          </a:xfrm>
          <a:prstGeom prst="rect">
            <a:avLst/>
          </a:prstGeom>
          <a:solidFill>
            <a:srgbClr val="1E2A38"/>
          </a:solidFill>
          <a:ln w="1524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11480" y="3712464"/>
            <a:ext cx="548640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411480" y="40325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84048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3803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2–3BR Group Travel Demand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444752" y="41696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listings at $130.72/night hold the highest price tier yet the highest vacancy. Market aggressively to families &amp; groups to close the 57.84% availability gap.</a:t>
            </a:r>
            <a:endParaRPr lang="en-US" sz="88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5623560" y="1097280"/>
          <a:ext cx="3291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Shape 19"/>
          <p:cNvSpPr/>
          <p:nvPr/>
        </p:nvSpPr>
        <p:spPr>
          <a:xfrm>
            <a:off x="5623560" y="4462272"/>
            <a:ext cx="3291840" cy="50292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5623560" y="4480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Case: $42.09M  |  0.80 occ × 1.50x Price Multiplier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Ratnadeep Deb  |  CPDA-8B  |  Hero Vired  |  Power BI Dashboard Analysis  | 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320</Words>
  <Application>Microsoft Office PowerPoint</Application>
  <PresentationFormat>On-screen Show (16:9)</PresentationFormat>
  <Paragraphs>59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Antwerp — Key Findings &amp; Recommendations</dc:title>
  <dc:subject>PptxGenJS Presentation</dc:subject>
  <dc:creator>Ratnadeep Deb | CPDA-8B</dc:creator>
  <cp:lastModifiedBy>Ratnadeep Deb</cp:lastModifiedBy>
  <cp:revision>1</cp:revision>
  <dcterms:created xsi:type="dcterms:W3CDTF">2026-04-17T21:40:47Z</dcterms:created>
  <dcterms:modified xsi:type="dcterms:W3CDTF">2026-04-17T21:47:03Z</dcterms:modified>
</cp:coreProperties>
</file>